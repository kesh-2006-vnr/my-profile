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5" r:id="rId2"/>
    <p:sldId id="264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BDE4"/>
    <a:srgbClr val="FF3399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12C2F-4599-4B5C-809B-0A7ADA34E93D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221374-71E8-4539-BC13-C45DC5CD4A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865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5A844-F98E-4297-A0C5-51F67BD52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CAF921-B4D4-471D-8614-B9BBB0B3CB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F279F-425F-4562-A8FE-BDFA6FD2D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3C61-FA53-47F7-8E50-B0D0D1F494BE}" type="datetime1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F489A-C07D-4E88-B74B-CC5143B8C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Electrical &amp; Electronics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3AA57-BF8C-4F2A-8B18-FF5B79D86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7DB1F-3A61-4B85-960C-F4F8705A6C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85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A371B-C91F-4D28-A7DB-9DF39D2AF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B6E25-D419-4CD1-8DC8-484834151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B2412-1EBE-4B75-BBED-1C1EBBC70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FD2A7-FB2D-4AD3-9C05-28CB5B63CA31}" type="datetime1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FED85-D097-47F2-913A-4BC40B641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Electrical &amp; Electronics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4E7C4-4B0D-48DE-99C9-791D6CF6A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7DB1F-3A61-4B85-960C-F4F8705A6C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220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E245B-EB60-46BA-804B-A12F4023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CADD5-321D-474E-916D-0C34EE043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A2C36-2E86-4893-9BB8-C91B6B612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1567-CD4E-45E3-885C-007F4956C07A}" type="datetime1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C77A4-5128-4FAB-8A92-821CFCEF2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Electrical &amp; Electronics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2C09F-9741-4C7F-B5A9-B86EB6BA4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7DB1F-3A61-4B85-960C-F4F8705A6C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662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56FC6-79DC-473F-9F09-2DBFED372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9D366-FA54-408F-B7BF-B3D9EA068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A2533B-88AA-4C76-A15F-6758F51644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77CA79-3514-4767-9998-0FAF76E76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36864-6123-41CC-B2A5-DD436B369CCC}" type="datetime1">
              <a:rPr lang="en-IN" smtClean="0"/>
              <a:t>07-05-2025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46B93-06DD-4855-AA74-11E065EA9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Electrical &amp; Electronics Engineering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939B9-4336-4C28-A3CF-909739838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7DB1F-3A61-4B85-960C-F4F8705A6C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579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AC813-27C4-4D35-B235-53B930332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380FF1-C285-440C-A7BE-237D0B793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876AD-20CC-4387-AEA0-1B143147B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593DEE-96D9-4192-9D33-916BC5E1C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E3F0A5-7588-42DE-8898-7D76014F56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51544B-3331-42CD-BFF6-266961B14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DE283-2D5E-4A48-8A59-DFFD558FD6D0}" type="datetime1">
              <a:rPr lang="en-IN" smtClean="0"/>
              <a:t>07-05-2025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6AC7BD-D17B-42E3-A147-488062969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Electrical &amp; Electronics Engineering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1FA6A5-252B-4ACA-9B03-3035C0EC5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7DB1F-3A61-4B85-960C-F4F8705A6C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27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2675B-8B4F-4729-A755-DE956330D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220071-2619-401A-B42B-1934064EE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89085-3184-4DD8-827E-E76C26664C7C}" type="datetime1">
              <a:rPr lang="en-IN" smtClean="0"/>
              <a:t>07-05-2025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3BB342-BA35-46B4-9030-E7B81FCB3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Electrical &amp; Electronics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7F4502-EF15-4B62-AA70-82B174B82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7DB1F-3A61-4B85-960C-F4F8705A6C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468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7EBF08-5554-432E-A72D-57304A79C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F415B-C9D9-446F-843D-801E9E595078}" type="datetime1">
              <a:rPr lang="en-IN" smtClean="0"/>
              <a:t>07-05-2025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F75E84-B383-4CB2-AD0C-6C0F10FAA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Electrical &amp; Electronics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3C750-80B6-45A7-95BF-DC7F177B6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7DB1F-3A61-4B85-960C-F4F8705A6C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76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37D04-0B6E-40B5-AAA0-3BECB62D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2D9D2-53E9-468E-9480-4A5E47D86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FB7E9-3920-49E9-B85F-3827CA5C4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B2987-0CAD-4DBC-B90E-927D4CC89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96891-25F6-4189-840F-8BC3F7FB43F5}" type="datetime1">
              <a:rPr lang="en-IN" smtClean="0"/>
              <a:t>07-05-2025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45C5F-94D5-4F05-9313-B6B335C06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Electrical &amp; Electronics Engineering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4C077-071E-43B4-BC34-B1AB5B209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7DB1F-3A61-4B85-960C-F4F8705A6C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829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01AA8-9AA2-45C1-AC1D-E4DEF8368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1955D0-0ADF-4CF6-A732-0EDBF42932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8256C2-4E12-4F06-A83F-D7221BB8C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644B2-1125-460C-B4DE-4307E4EDD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21EBA-02F7-47E3-BFF4-D215C9F7588A}" type="datetime1">
              <a:rPr lang="en-IN" smtClean="0"/>
              <a:t>07-05-2025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717FA2-6CBE-4CBC-BA64-F0CF634DF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Electrical &amp; Electronics Engineering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5DC5C-3654-4D37-A4E1-38BFF4951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7DB1F-3A61-4B85-960C-F4F8705A6C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566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1B677-7B03-4369-813E-DF78B2B30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026EB3-4C0F-4EC1-916C-8FCBF22C2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ED4B7-A9B3-41A0-99A6-4548D0589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1A254-940A-4B2A-854A-75202D7AB3F6}" type="datetime1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BF38F-8319-4A38-9869-71FC75412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Electrical &amp; Electronics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DF20B-C801-4E75-A94B-06089611E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7DB1F-3A61-4B85-960C-F4F8705A6C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169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E13E3D-E443-4C38-B0A6-7442D103B0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742477-C3CE-4BA2-AACA-04BF7FCFA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5B060-6F2D-4AE6-9CCA-FB0A7D4FF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6F41E-3E88-49D1-9623-60B0EA6847CB}" type="datetime1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A1718-3AAF-4749-980D-F9003B8DF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Electrical &amp; Electronics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A9F5F-A821-4868-A782-77EB00329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7DB1F-3A61-4B85-960C-F4F8705A6C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411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6DD9B1-F226-4674-80AB-575AFB093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F70F0-9D0B-4C09-B8FB-70BF150E7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38D6C-5107-45F4-B3A4-4F55676016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AB7D4-E45B-4B5C-BF8B-BBDDAB3A0C70}" type="datetime1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11CB5-39F4-4D2F-A774-624FF760D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Electrical &amp; Electronics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4F71A-DBFD-4905-94BE-0EF7236ABC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7DB1F-3A61-4B85-960C-F4F8705A6C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03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84073E-6F2C-454E-8B23-AD22FC465373}"/>
              </a:ext>
            </a:extLst>
          </p:cNvPr>
          <p:cNvSpPr txBox="1"/>
          <p:nvPr/>
        </p:nvSpPr>
        <p:spPr>
          <a:xfrm>
            <a:off x="781050" y="285750"/>
            <a:ext cx="10629900" cy="995422"/>
          </a:xfrm>
          <a:prstGeom prst="round2DiagRect">
            <a:avLst>
              <a:gd name="adj1" fmla="val 50000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Rise in Electric Vehicles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37F4A8-4E75-4306-B2C3-6AFB5DDE70BE}"/>
              </a:ext>
            </a:extLst>
          </p:cNvPr>
          <p:cNvSpPr txBox="1"/>
          <p:nvPr/>
        </p:nvSpPr>
        <p:spPr>
          <a:xfrm>
            <a:off x="2160984" y="1767474"/>
            <a:ext cx="78700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Self-Balancing EV</a:t>
            </a:r>
            <a:endParaRPr lang="en-IN" sz="7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8CFE6BB4-2B3E-4402-A2AE-C0989CB05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73928" y="6311900"/>
            <a:ext cx="4844143" cy="501650"/>
          </a:xfrm>
          <a:prstGeom prst="round2DiagRect">
            <a:avLst>
              <a:gd name="adj1" fmla="val 50000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IN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Electrical &amp; Electronics Engineering-PSNACET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B05798-0D3F-4289-B1D9-EF8309D58184}"/>
              </a:ext>
            </a:extLst>
          </p:cNvPr>
          <p:cNvSpPr/>
          <p:nvPr/>
        </p:nvSpPr>
        <p:spPr>
          <a:xfrm>
            <a:off x="3048000" y="3775894"/>
            <a:ext cx="62484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HARIRAM K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KESHAVAN 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ANUVARSHINI J H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39919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62AE266-3561-47C1-84EE-E084F452B66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-2280" b="-13771"/>
          <a:stretch/>
        </p:blipFill>
        <p:spPr>
          <a:xfrm>
            <a:off x="7919357" y="2062148"/>
            <a:ext cx="4354288" cy="4930556"/>
          </a:xfrm>
          <a:prstGeom prst="ellipse">
            <a:avLst/>
          </a:prstGeom>
        </p:spPr>
      </p:pic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AE25A6A5-BD78-4054-8811-4D1340979AB7}"/>
              </a:ext>
            </a:extLst>
          </p:cNvPr>
          <p:cNvSpPr txBox="1">
            <a:spLocks/>
          </p:cNvSpPr>
          <p:nvPr/>
        </p:nvSpPr>
        <p:spPr>
          <a:xfrm>
            <a:off x="72044" y="6353462"/>
            <a:ext cx="1372985" cy="365125"/>
          </a:xfrm>
          <a:prstGeom prst="round2DiagRect">
            <a:avLst>
              <a:gd name="adj1" fmla="val 50000"/>
              <a:gd name="adj2" fmla="val 0"/>
            </a:avLst>
          </a:prstGeom>
          <a:ln w="635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D97CE8-073E-4F93-94E8-6B92F7E8CCB6}" type="datetime1">
              <a:rPr lang="en-IN" sz="1800" i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07-05-2025</a:t>
            </a:fld>
            <a:endParaRPr lang="en-IN" sz="18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74CBC0F9-AAF9-4852-8479-2A2C111D0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77742" y="6353463"/>
            <a:ext cx="4836514" cy="365124"/>
          </a:xfrm>
          <a:prstGeom prst="round2DiagRect">
            <a:avLst>
              <a:gd name="adj1" fmla="val 50000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IN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Electrical &amp; Electronics Engineering-PSNACET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F7CE7FBF-6823-42D2-9A40-DD9F0D55FC28}"/>
              </a:ext>
            </a:extLst>
          </p:cNvPr>
          <p:cNvSpPr/>
          <p:nvPr/>
        </p:nvSpPr>
        <p:spPr>
          <a:xfrm>
            <a:off x="74815" y="83130"/>
            <a:ext cx="12045141" cy="365125"/>
          </a:xfrm>
          <a:prstGeom prst="round2DiagRect">
            <a:avLst>
              <a:gd name="adj1" fmla="val 50000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 Masters</a:t>
            </a:r>
            <a:endParaRPr lang="en-IN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A0FA90-12A0-4C70-BB2F-B636311181D0}"/>
              </a:ext>
            </a:extLst>
          </p:cNvPr>
          <p:cNvSpPr txBox="1"/>
          <p:nvPr/>
        </p:nvSpPr>
        <p:spPr>
          <a:xfrm>
            <a:off x="3805237" y="48145"/>
            <a:ext cx="4581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Self-balancing Electric Vehicle</a:t>
            </a:r>
            <a:endParaRPr lang="en-IN" sz="20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C2CB10D9-EE5B-405E-A62A-04067A9A3E09}"/>
              </a:ext>
            </a:extLst>
          </p:cNvPr>
          <p:cNvSpPr txBox="1">
            <a:spLocks/>
          </p:cNvSpPr>
          <p:nvPr/>
        </p:nvSpPr>
        <p:spPr>
          <a:xfrm>
            <a:off x="10746971" y="6356349"/>
            <a:ext cx="1372985" cy="365125"/>
          </a:xfrm>
          <a:prstGeom prst="round2DiagRect">
            <a:avLst>
              <a:gd name="adj1" fmla="val 50000"/>
              <a:gd name="adj2" fmla="val 0"/>
            </a:avLst>
          </a:prstGeom>
          <a:ln w="635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E783FB-E544-4067-A372-61BF4D943912}"/>
              </a:ext>
            </a:extLst>
          </p:cNvPr>
          <p:cNvSpPr/>
          <p:nvPr/>
        </p:nvSpPr>
        <p:spPr>
          <a:xfrm flipV="1">
            <a:off x="800100" y="874528"/>
            <a:ext cx="10591800" cy="6477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F561B5-DE8F-4D15-9F6D-5AF0C5A5B855}"/>
              </a:ext>
            </a:extLst>
          </p:cNvPr>
          <p:cNvSpPr txBox="1"/>
          <p:nvPr/>
        </p:nvSpPr>
        <p:spPr>
          <a:xfrm>
            <a:off x="838200" y="1085850"/>
            <a:ext cx="81138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SELF BALANCING VECHICLE?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60FE67-12DF-41C8-8754-279B9E502CEF}"/>
              </a:ext>
            </a:extLst>
          </p:cNvPr>
          <p:cNvSpPr/>
          <p:nvPr/>
        </p:nvSpPr>
        <p:spPr>
          <a:xfrm>
            <a:off x="837470" y="1550121"/>
            <a:ext cx="7315930" cy="4457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self-balancing vehicle is a type of vehicle that uses </a:t>
            </a: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gyroscopic sensors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accelerometers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automatically maintain its balance without falling over.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continuously </a:t>
            </a: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adjusts its position using motors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allowing it to stay upright and stable, even with movement or changes in terrain.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adjusts the motor movements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real time to prevent falling and stay upright.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3158CE74-8267-4392-9F58-5B424FFE9030}"/>
              </a:ext>
            </a:extLst>
          </p:cNvPr>
          <p:cNvSpPr txBox="1">
            <a:spLocks/>
          </p:cNvSpPr>
          <p:nvPr/>
        </p:nvSpPr>
        <p:spPr>
          <a:xfrm>
            <a:off x="685071" y="369570"/>
            <a:ext cx="10630629" cy="50495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928527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0E7B0B2-A1C3-4D63-979F-AC609BEE756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40" t="12752" r="4644" b="16361"/>
          <a:stretch/>
        </p:blipFill>
        <p:spPr>
          <a:xfrm rot="18891003" flipH="1">
            <a:off x="6875055" y="2041447"/>
            <a:ext cx="5798053" cy="3313825"/>
          </a:xfrm>
          <a:prstGeom prst="rect">
            <a:avLst/>
          </a:prstGeom>
        </p:spPr>
      </p:pic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AE25A6A5-BD78-4054-8811-4D1340979AB7}"/>
              </a:ext>
            </a:extLst>
          </p:cNvPr>
          <p:cNvSpPr txBox="1">
            <a:spLocks/>
          </p:cNvSpPr>
          <p:nvPr/>
        </p:nvSpPr>
        <p:spPr>
          <a:xfrm>
            <a:off x="72044" y="6353462"/>
            <a:ext cx="1372985" cy="365125"/>
          </a:xfrm>
          <a:prstGeom prst="round2DiagRect">
            <a:avLst>
              <a:gd name="adj1" fmla="val 50000"/>
              <a:gd name="adj2" fmla="val 0"/>
            </a:avLst>
          </a:prstGeom>
          <a:ln w="635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D97CE8-073E-4F93-94E8-6B92F7E8CCB6}" type="datetime1">
              <a:rPr lang="en-IN" sz="1800" i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07-05-2025</a:t>
            </a:fld>
            <a:endParaRPr lang="en-IN" sz="18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F7CE7FBF-6823-42D2-9A40-DD9F0D55FC28}"/>
              </a:ext>
            </a:extLst>
          </p:cNvPr>
          <p:cNvSpPr/>
          <p:nvPr/>
        </p:nvSpPr>
        <p:spPr>
          <a:xfrm>
            <a:off x="74815" y="83130"/>
            <a:ext cx="12045141" cy="365125"/>
          </a:xfrm>
          <a:prstGeom prst="round2DiagRect">
            <a:avLst>
              <a:gd name="adj1" fmla="val 50000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 Masters</a:t>
            </a:r>
            <a:endParaRPr lang="en-IN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A0FA90-12A0-4C70-BB2F-B636311181D0}"/>
              </a:ext>
            </a:extLst>
          </p:cNvPr>
          <p:cNvSpPr txBox="1"/>
          <p:nvPr/>
        </p:nvSpPr>
        <p:spPr>
          <a:xfrm>
            <a:off x="3805237" y="48145"/>
            <a:ext cx="4581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Self-balancing Electric Vehicle</a:t>
            </a:r>
            <a:endParaRPr lang="en-IN" sz="20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C2CB10D9-EE5B-405E-A62A-04067A9A3E09}"/>
              </a:ext>
            </a:extLst>
          </p:cNvPr>
          <p:cNvSpPr txBox="1">
            <a:spLocks/>
          </p:cNvSpPr>
          <p:nvPr/>
        </p:nvSpPr>
        <p:spPr>
          <a:xfrm>
            <a:off x="10746971" y="6356349"/>
            <a:ext cx="1372985" cy="365125"/>
          </a:xfrm>
          <a:prstGeom prst="round2DiagRect">
            <a:avLst>
              <a:gd name="adj1" fmla="val 50000"/>
              <a:gd name="adj2" fmla="val 0"/>
            </a:avLst>
          </a:prstGeom>
          <a:ln w="635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sz="18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855EFD3-1141-4ED3-BB91-7993BD954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77742" y="6353463"/>
            <a:ext cx="4836514" cy="365124"/>
          </a:xfrm>
          <a:prstGeom prst="round2DiagRect">
            <a:avLst>
              <a:gd name="adj1" fmla="val 50000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IN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Electrical &amp; Electronics Engineering-PSNACET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57CBB9FC-73C7-4B19-A8B5-9376D53771A3}"/>
              </a:ext>
            </a:extLst>
          </p:cNvPr>
          <p:cNvSpPr txBox="1">
            <a:spLocks/>
          </p:cNvSpPr>
          <p:nvPr/>
        </p:nvSpPr>
        <p:spPr>
          <a:xfrm>
            <a:off x="685071" y="369570"/>
            <a:ext cx="10630629" cy="50495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8F72E3-1219-4959-99DF-7976CBE65D02}"/>
              </a:ext>
            </a:extLst>
          </p:cNvPr>
          <p:cNvSpPr/>
          <p:nvPr/>
        </p:nvSpPr>
        <p:spPr>
          <a:xfrm flipV="1">
            <a:off x="800100" y="874528"/>
            <a:ext cx="10591800" cy="6477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CEDA53-321F-4E8A-B9FC-16A0C398736C}"/>
              </a:ext>
            </a:extLst>
          </p:cNvPr>
          <p:cNvSpPr txBox="1"/>
          <p:nvPr/>
        </p:nvSpPr>
        <p:spPr>
          <a:xfrm>
            <a:off x="723170" y="1356360"/>
            <a:ext cx="8071695" cy="224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vehicles require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balance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compact and stable mobility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implement a vehicle that can balance itself using a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gyroscopic model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PID control 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158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AE25A6A5-BD78-4054-8811-4D1340979AB7}"/>
              </a:ext>
            </a:extLst>
          </p:cNvPr>
          <p:cNvSpPr txBox="1">
            <a:spLocks/>
          </p:cNvSpPr>
          <p:nvPr/>
        </p:nvSpPr>
        <p:spPr>
          <a:xfrm>
            <a:off x="72044" y="6353462"/>
            <a:ext cx="1372985" cy="365125"/>
          </a:xfrm>
          <a:prstGeom prst="round2DiagRect">
            <a:avLst>
              <a:gd name="adj1" fmla="val 50000"/>
              <a:gd name="adj2" fmla="val 0"/>
            </a:avLst>
          </a:prstGeom>
          <a:ln w="635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D97CE8-073E-4F93-94E8-6B92F7E8CCB6}" type="datetime1">
              <a:rPr lang="en-IN" sz="1800" i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07-05-2025</a:t>
            </a:fld>
            <a:endParaRPr lang="en-IN" sz="18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F7CE7FBF-6823-42D2-9A40-DD9F0D55FC28}"/>
              </a:ext>
            </a:extLst>
          </p:cNvPr>
          <p:cNvSpPr/>
          <p:nvPr/>
        </p:nvSpPr>
        <p:spPr>
          <a:xfrm>
            <a:off x="74815" y="83130"/>
            <a:ext cx="12045141" cy="365125"/>
          </a:xfrm>
          <a:prstGeom prst="round2DiagRect">
            <a:avLst>
              <a:gd name="adj1" fmla="val 50000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 Masters</a:t>
            </a:r>
            <a:endParaRPr lang="en-IN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A0FA90-12A0-4C70-BB2F-B636311181D0}"/>
              </a:ext>
            </a:extLst>
          </p:cNvPr>
          <p:cNvSpPr txBox="1"/>
          <p:nvPr/>
        </p:nvSpPr>
        <p:spPr>
          <a:xfrm>
            <a:off x="3805237" y="48145"/>
            <a:ext cx="4581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Self-balancing Electric Vehicle</a:t>
            </a:r>
            <a:endParaRPr lang="en-IN" sz="20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C2CB10D9-EE5B-405E-A62A-04067A9A3E09}"/>
              </a:ext>
            </a:extLst>
          </p:cNvPr>
          <p:cNvSpPr txBox="1">
            <a:spLocks/>
          </p:cNvSpPr>
          <p:nvPr/>
        </p:nvSpPr>
        <p:spPr>
          <a:xfrm>
            <a:off x="10746971" y="6356349"/>
            <a:ext cx="1372985" cy="365125"/>
          </a:xfrm>
          <a:prstGeom prst="round2DiagRect">
            <a:avLst>
              <a:gd name="adj1" fmla="val 50000"/>
              <a:gd name="adj2" fmla="val 0"/>
            </a:avLst>
          </a:prstGeom>
          <a:ln w="635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IN" sz="18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855EFD3-1141-4ED3-BB91-7993BD954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77742" y="6353463"/>
            <a:ext cx="4836514" cy="365124"/>
          </a:xfrm>
          <a:prstGeom prst="round2DiagRect">
            <a:avLst>
              <a:gd name="adj1" fmla="val 50000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IN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Electrical &amp; Electronics Engineering-PSNACET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24808F7-5B45-4D17-B740-E5156B93D11D}"/>
              </a:ext>
            </a:extLst>
          </p:cNvPr>
          <p:cNvSpPr txBox="1">
            <a:spLocks/>
          </p:cNvSpPr>
          <p:nvPr/>
        </p:nvSpPr>
        <p:spPr>
          <a:xfrm>
            <a:off x="666021" y="383171"/>
            <a:ext cx="10630629" cy="457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PRINCIPLE OF OPERATION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85CE95-F74E-4652-A068-AD23104206A6}"/>
              </a:ext>
            </a:extLst>
          </p:cNvPr>
          <p:cNvSpPr/>
          <p:nvPr/>
        </p:nvSpPr>
        <p:spPr>
          <a:xfrm flipV="1">
            <a:off x="800100" y="874528"/>
            <a:ext cx="10591800" cy="6477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EF12BF-97C2-4AD7-BE08-1AAE46B278BB}"/>
              </a:ext>
            </a:extLst>
          </p:cNvPr>
          <p:cNvSpPr txBox="1"/>
          <p:nvPr/>
        </p:nvSpPr>
        <p:spPr>
          <a:xfrm>
            <a:off x="838200" y="1356360"/>
            <a:ext cx="5581650" cy="224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Basics of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gyroscopic effect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Conservation of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angular momentum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balancing.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 systems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 this data?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itle 7">
            <a:extLst>
              <a:ext uri="{FF2B5EF4-FFF2-40B4-BE49-F238E27FC236}">
                <a16:creationId xmlns:a16="http://schemas.microsoft.com/office/drawing/2014/main" id="{0C8231A5-7B03-463F-BD02-6B61109A1898}"/>
              </a:ext>
            </a:extLst>
          </p:cNvPr>
          <p:cNvSpPr txBox="1">
            <a:spLocks/>
          </p:cNvSpPr>
          <p:nvPr/>
        </p:nvSpPr>
        <p:spPr>
          <a:xfrm>
            <a:off x="685071" y="3764148"/>
            <a:ext cx="10630629" cy="51816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F26FE1-3FEF-4F2D-8D20-1E25DB8F465D}"/>
              </a:ext>
            </a:extLst>
          </p:cNvPr>
          <p:cNvSpPr/>
          <p:nvPr/>
        </p:nvSpPr>
        <p:spPr>
          <a:xfrm flipV="1">
            <a:off x="800100" y="4251828"/>
            <a:ext cx="10591800" cy="6477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58D46B-1ABF-4536-98DC-AE18F87DBAEE}"/>
              </a:ext>
            </a:extLst>
          </p:cNvPr>
          <p:cNvSpPr txBox="1"/>
          <p:nvPr/>
        </p:nvSpPr>
        <p:spPr>
          <a:xfrm>
            <a:off x="685071" y="4657658"/>
            <a:ext cx="9544779" cy="1687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Gyroscope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detects tilt angle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processes data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Appropriate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motor action corrects the imbalance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EF05FA5-A406-4543-8D50-325AFBD6FC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711" y="1964489"/>
            <a:ext cx="5609418" cy="4018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360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005F0E9-A0B4-4AB1-863A-7F265581C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3074" y="3074969"/>
            <a:ext cx="2831055" cy="3313382"/>
          </a:xfrm>
          <a:prstGeom prst="rect">
            <a:avLst/>
          </a:prstGeom>
        </p:spPr>
      </p:pic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AE25A6A5-BD78-4054-8811-4D1340979AB7}"/>
              </a:ext>
            </a:extLst>
          </p:cNvPr>
          <p:cNvSpPr txBox="1">
            <a:spLocks/>
          </p:cNvSpPr>
          <p:nvPr/>
        </p:nvSpPr>
        <p:spPr>
          <a:xfrm>
            <a:off x="72044" y="6353462"/>
            <a:ext cx="1372985" cy="365125"/>
          </a:xfrm>
          <a:prstGeom prst="round2DiagRect">
            <a:avLst>
              <a:gd name="adj1" fmla="val 50000"/>
              <a:gd name="adj2" fmla="val 0"/>
            </a:avLst>
          </a:prstGeom>
          <a:ln w="635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D97CE8-073E-4F93-94E8-6B92F7E8CCB6}" type="datetime1">
              <a:rPr lang="en-IN" sz="1800" i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07-05-2025</a:t>
            </a:fld>
            <a:endParaRPr lang="en-IN" sz="18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F7CE7FBF-6823-42D2-9A40-DD9F0D55FC28}"/>
              </a:ext>
            </a:extLst>
          </p:cNvPr>
          <p:cNvSpPr/>
          <p:nvPr/>
        </p:nvSpPr>
        <p:spPr>
          <a:xfrm>
            <a:off x="74815" y="83130"/>
            <a:ext cx="12045141" cy="365125"/>
          </a:xfrm>
          <a:prstGeom prst="round2DiagRect">
            <a:avLst>
              <a:gd name="adj1" fmla="val 50000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 Masters</a:t>
            </a:r>
            <a:endParaRPr lang="en-IN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A0FA90-12A0-4C70-BB2F-B636311181D0}"/>
              </a:ext>
            </a:extLst>
          </p:cNvPr>
          <p:cNvSpPr txBox="1"/>
          <p:nvPr/>
        </p:nvSpPr>
        <p:spPr>
          <a:xfrm>
            <a:off x="3805237" y="48145"/>
            <a:ext cx="4581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Self-balancing Electric Vehicle</a:t>
            </a:r>
            <a:endParaRPr lang="en-IN" sz="20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C2CB10D9-EE5B-405E-A62A-04067A9A3E09}"/>
              </a:ext>
            </a:extLst>
          </p:cNvPr>
          <p:cNvSpPr txBox="1">
            <a:spLocks/>
          </p:cNvSpPr>
          <p:nvPr/>
        </p:nvSpPr>
        <p:spPr>
          <a:xfrm>
            <a:off x="10746971" y="6356349"/>
            <a:ext cx="1372985" cy="365125"/>
          </a:xfrm>
          <a:prstGeom prst="round2DiagRect">
            <a:avLst>
              <a:gd name="adj1" fmla="val 50000"/>
              <a:gd name="adj2" fmla="val 0"/>
            </a:avLst>
          </a:prstGeom>
          <a:ln w="635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IN" sz="18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855EFD3-1141-4ED3-BB91-7993BD954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77742" y="6353463"/>
            <a:ext cx="4836514" cy="365124"/>
          </a:xfrm>
          <a:prstGeom prst="round2DiagRect">
            <a:avLst>
              <a:gd name="adj1" fmla="val 50000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IN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Electrical &amp; Electronics Engineering-PSNACET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76B6D462-E877-4972-BA3A-6377C6F55033}"/>
              </a:ext>
            </a:extLst>
          </p:cNvPr>
          <p:cNvSpPr txBox="1">
            <a:spLocks/>
          </p:cNvSpPr>
          <p:nvPr/>
        </p:nvSpPr>
        <p:spPr>
          <a:xfrm>
            <a:off x="666021" y="383171"/>
            <a:ext cx="10630629" cy="51816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PID CONTROL SYSTEM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6FF4FA-77C7-4C99-AFC9-BA830027B64F}"/>
              </a:ext>
            </a:extLst>
          </p:cNvPr>
          <p:cNvSpPr/>
          <p:nvPr/>
        </p:nvSpPr>
        <p:spPr>
          <a:xfrm flipV="1">
            <a:off x="800100" y="874528"/>
            <a:ext cx="10591800" cy="6477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C1E9BA-1643-462F-81AD-4DCD2EABB5A4}"/>
              </a:ext>
            </a:extLst>
          </p:cNvPr>
          <p:cNvSpPr/>
          <p:nvPr/>
        </p:nvSpPr>
        <p:spPr>
          <a:xfrm>
            <a:off x="646971" y="1018775"/>
            <a:ext cx="11545029" cy="50119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PID Control (Proportional-Integral-Derivative)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algorithm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automation systems to maintain the desired output by </a:t>
            </a: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minimizing error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continuously calculates an error value as the difference between a </a:t>
            </a: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desired setpoint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</a:t>
            </a: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measured process variable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applies correction using three terms: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(Proportional)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Reacts to the current error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(Integral):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Accounts for past errors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(Derivative)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Predicts future error based on the rate of change.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to </a:t>
            </a: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 balance dynamically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 </a:t>
            </a: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correction of deviation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 available.</a:t>
            </a:r>
          </a:p>
        </p:txBody>
      </p:sp>
    </p:spTree>
    <p:extLst>
      <p:ext uri="{BB962C8B-B14F-4D97-AF65-F5344CB8AC3E}">
        <p14:creationId xmlns:p14="http://schemas.microsoft.com/office/powerpoint/2010/main" val="3343252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E3F8590-CFA3-4ECD-9E67-AFAB7C5A50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245" y="880989"/>
            <a:ext cx="5469255" cy="56578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73419A3-D9FD-4372-8940-E5799CAD5FE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2"/>
          <a:stretch/>
        </p:blipFill>
        <p:spPr>
          <a:xfrm>
            <a:off x="1571625" y="1041622"/>
            <a:ext cx="3770339" cy="5467217"/>
          </a:xfrm>
          <a:prstGeom prst="rect">
            <a:avLst/>
          </a:prstGeom>
        </p:spPr>
      </p:pic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AE25A6A5-BD78-4054-8811-4D1340979AB7}"/>
              </a:ext>
            </a:extLst>
          </p:cNvPr>
          <p:cNvSpPr txBox="1">
            <a:spLocks/>
          </p:cNvSpPr>
          <p:nvPr/>
        </p:nvSpPr>
        <p:spPr>
          <a:xfrm>
            <a:off x="72044" y="6353462"/>
            <a:ext cx="1372985" cy="365125"/>
          </a:xfrm>
          <a:prstGeom prst="round2DiagRect">
            <a:avLst>
              <a:gd name="adj1" fmla="val 50000"/>
              <a:gd name="adj2" fmla="val 0"/>
            </a:avLst>
          </a:prstGeom>
          <a:ln w="635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D97CE8-073E-4F93-94E8-6B92F7E8CCB6}" type="datetime1">
              <a:rPr lang="en-IN" sz="1800" i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07-05-2025</a:t>
            </a:fld>
            <a:endParaRPr lang="en-IN" sz="18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F7CE7FBF-6823-42D2-9A40-DD9F0D55FC28}"/>
              </a:ext>
            </a:extLst>
          </p:cNvPr>
          <p:cNvSpPr/>
          <p:nvPr/>
        </p:nvSpPr>
        <p:spPr>
          <a:xfrm>
            <a:off x="74815" y="83130"/>
            <a:ext cx="12045141" cy="365125"/>
          </a:xfrm>
          <a:prstGeom prst="round2DiagRect">
            <a:avLst>
              <a:gd name="adj1" fmla="val 50000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 Masters</a:t>
            </a:r>
            <a:endParaRPr lang="en-IN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A0FA90-12A0-4C70-BB2F-B636311181D0}"/>
              </a:ext>
            </a:extLst>
          </p:cNvPr>
          <p:cNvSpPr txBox="1"/>
          <p:nvPr/>
        </p:nvSpPr>
        <p:spPr>
          <a:xfrm>
            <a:off x="3805237" y="48145"/>
            <a:ext cx="4581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Self-balancing Electric Vehicle</a:t>
            </a:r>
            <a:endParaRPr lang="en-IN" sz="20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C2CB10D9-EE5B-405E-A62A-04067A9A3E09}"/>
              </a:ext>
            </a:extLst>
          </p:cNvPr>
          <p:cNvSpPr txBox="1">
            <a:spLocks/>
          </p:cNvSpPr>
          <p:nvPr/>
        </p:nvSpPr>
        <p:spPr>
          <a:xfrm>
            <a:off x="10746971" y="6356349"/>
            <a:ext cx="1372985" cy="365125"/>
          </a:xfrm>
          <a:prstGeom prst="round2DiagRect">
            <a:avLst>
              <a:gd name="adj1" fmla="val 50000"/>
              <a:gd name="adj2" fmla="val 0"/>
            </a:avLst>
          </a:prstGeom>
          <a:ln w="635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IN" sz="18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855EFD3-1141-4ED3-BB91-7993BD954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77742" y="6353463"/>
            <a:ext cx="4836514" cy="365124"/>
          </a:xfrm>
          <a:prstGeom prst="round2DiagRect">
            <a:avLst>
              <a:gd name="adj1" fmla="val 50000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IN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Electrical &amp; Electronics Engineering-PSNACET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514C0D8D-E903-455F-AF34-300D1E0CB2FE}"/>
              </a:ext>
            </a:extLst>
          </p:cNvPr>
          <p:cNvSpPr txBox="1">
            <a:spLocks/>
          </p:cNvSpPr>
          <p:nvPr/>
        </p:nvSpPr>
        <p:spPr>
          <a:xfrm>
            <a:off x="666021" y="383171"/>
            <a:ext cx="10630629" cy="457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256A64-249C-4E9A-BD9D-92ABDDFA85CF}"/>
              </a:ext>
            </a:extLst>
          </p:cNvPr>
          <p:cNvSpPr/>
          <p:nvPr/>
        </p:nvSpPr>
        <p:spPr>
          <a:xfrm flipV="1">
            <a:off x="800100" y="874528"/>
            <a:ext cx="10591800" cy="6477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555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AA5505B9-9B7C-4ECE-9564-7EFF8D1D908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26" t="11031" r="19001" b="20113"/>
          <a:stretch/>
        </p:blipFill>
        <p:spPr>
          <a:xfrm>
            <a:off x="8379527" y="4188420"/>
            <a:ext cx="2576945" cy="245666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CB60B4F-16C9-4197-9D72-E760AA0A9BA5}"/>
              </a:ext>
            </a:extLst>
          </p:cNvPr>
          <p:cNvSpPr txBox="1"/>
          <p:nvPr/>
        </p:nvSpPr>
        <p:spPr>
          <a:xfrm>
            <a:off x="685071" y="4657658"/>
            <a:ext cx="9544779" cy="1687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Precise timing of PID values.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Calibration issues.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limitations.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AE25A6A5-BD78-4054-8811-4D1340979AB7}"/>
              </a:ext>
            </a:extLst>
          </p:cNvPr>
          <p:cNvSpPr txBox="1">
            <a:spLocks/>
          </p:cNvSpPr>
          <p:nvPr/>
        </p:nvSpPr>
        <p:spPr>
          <a:xfrm>
            <a:off x="72044" y="6353462"/>
            <a:ext cx="1372985" cy="365125"/>
          </a:xfrm>
          <a:prstGeom prst="round2DiagRect">
            <a:avLst>
              <a:gd name="adj1" fmla="val 50000"/>
              <a:gd name="adj2" fmla="val 0"/>
            </a:avLst>
          </a:prstGeom>
          <a:ln w="635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D97CE8-073E-4F93-94E8-6B92F7E8CCB6}" type="datetime1">
              <a:rPr lang="en-IN" sz="1800" i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07-05-2025</a:t>
            </a:fld>
            <a:endParaRPr lang="en-IN" sz="18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F7CE7FBF-6823-42D2-9A40-DD9F0D55FC28}"/>
              </a:ext>
            </a:extLst>
          </p:cNvPr>
          <p:cNvSpPr/>
          <p:nvPr/>
        </p:nvSpPr>
        <p:spPr>
          <a:xfrm>
            <a:off x="74815" y="83130"/>
            <a:ext cx="12045141" cy="365125"/>
          </a:xfrm>
          <a:prstGeom prst="round2DiagRect">
            <a:avLst>
              <a:gd name="adj1" fmla="val 50000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 Masters</a:t>
            </a:r>
            <a:endParaRPr lang="en-IN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A0FA90-12A0-4C70-BB2F-B636311181D0}"/>
              </a:ext>
            </a:extLst>
          </p:cNvPr>
          <p:cNvSpPr txBox="1"/>
          <p:nvPr/>
        </p:nvSpPr>
        <p:spPr>
          <a:xfrm>
            <a:off x="3805237" y="48145"/>
            <a:ext cx="4581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Self-balancing Electric Vehicle</a:t>
            </a:r>
            <a:endParaRPr lang="en-IN" sz="20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C2CB10D9-EE5B-405E-A62A-04067A9A3E09}"/>
              </a:ext>
            </a:extLst>
          </p:cNvPr>
          <p:cNvSpPr txBox="1">
            <a:spLocks/>
          </p:cNvSpPr>
          <p:nvPr/>
        </p:nvSpPr>
        <p:spPr>
          <a:xfrm>
            <a:off x="10746971" y="6356349"/>
            <a:ext cx="1372985" cy="365125"/>
          </a:xfrm>
          <a:prstGeom prst="round2DiagRect">
            <a:avLst>
              <a:gd name="adj1" fmla="val 50000"/>
              <a:gd name="adj2" fmla="val 0"/>
            </a:avLst>
          </a:prstGeom>
          <a:ln w="635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IN" sz="18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855EFD3-1141-4ED3-BB91-7993BD954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77742" y="6353463"/>
            <a:ext cx="4836514" cy="365124"/>
          </a:xfrm>
          <a:prstGeom prst="round2DiagRect">
            <a:avLst>
              <a:gd name="adj1" fmla="val 50000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IN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Electrical &amp; Electronics Engineering-PSNACET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874800F6-A207-42FD-A2A2-DB646BFE0E75}"/>
              </a:ext>
            </a:extLst>
          </p:cNvPr>
          <p:cNvSpPr txBox="1">
            <a:spLocks/>
          </p:cNvSpPr>
          <p:nvPr/>
        </p:nvSpPr>
        <p:spPr>
          <a:xfrm>
            <a:off x="666021" y="383171"/>
            <a:ext cx="10630629" cy="457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C2E4F5-0DAC-4D06-8223-8E823F4ECEE8}"/>
              </a:ext>
            </a:extLst>
          </p:cNvPr>
          <p:cNvSpPr/>
          <p:nvPr/>
        </p:nvSpPr>
        <p:spPr>
          <a:xfrm flipV="1">
            <a:off x="800100" y="874528"/>
            <a:ext cx="10591800" cy="6477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IN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6ABE536-A94C-48CF-A2C8-826B6B5DF2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20"/>
          <a:stretch/>
        </p:blipFill>
        <p:spPr>
          <a:xfrm>
            <a:off x="6190885" y="1364698"/>
            <a:ext cx="5994530" cy="256912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3E1E135-4CAF-4D91-B137-D187E685D35F}"/>
              </a:ext>
            </a:extLst>
          </p:cNvPr>
          <p:cNvSpPr txBox="1"/>
          <p:nvPr/>
        </p:nvSpPr>
        <p:spPr>
          <a:xfrm>
            <a:off x="838200" y="1356360"/>
            <a:ext cx="5581650" cy="1687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 and smart design.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human effect to maintain balance.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Easily customizable.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itle 7">
            <a:extLst>
              <a:ext uri="{FF2B5EF4-FFF2-40B4-BE49-F238E27FC236}">
                <a16:creationId xmlns:a16="http://schemas.microsoft.com/office/drawing/2014/main" id="{74B32D55-D93C-4F44-A3C8-06AFFF2BBF09}"/>
              </a:ext>
            </a:extLst>
          </p:cNvPr>
          <p:cNvSpPr txBox="1">
            <a:spLocks/>
          </p:cNvSpPr>
          <p:nvPr/>
        </p:nvSpPr>
        <p:spPr>
          <a:xfrm>
            <a:off x="685071" y="3764148"/>
            <a:ext cx="10630629" cy="51816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FA03FE-B0A7-49D3-B266-E649590E88FC}"/>
              </a:ext>
            </a:extLst>
          </p:cNvPr>
          <p:cNvSpPr/>
          <p:nvPr/>
        </p:nvSpPr>
        <p:spPr>
          <a:xfrm flipV="1">
            <a:off x="800100" y="4251828"/>
            <a:ext cx="10591800" cy="6477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9306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AE25A6A5-BD78-4054-8811-4D1340979AB7}"/>
              </a:ext>
            </a:extLst>
          </p:cNvPr>
          <p:cNvSpPr txBox="1">
            <a:spLocks/>
          </p:cNvSpPr>
          <p:nvPr/>
        </p:nvSpPr>
        <p:spPr>
          <a:xfrm>
            <a:off x="72044" y="6353462"/>
            <a:ext cx="1372985" cy="365125"/>
          </a:xfrm>
          <a:prstGeom prst="round2DiagRect">
            <a:avLst>
              <a:gd name="adj1" fmla="val 50000"/>
              <a:gd name="adj2" fmla="val 0"/>
            </a:avLst>
          </a:prstGeom>
          <a:ln w="635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D97CE8-073E-4F93-94E8-6B92F7E8CCB6}" type="datetime1">
              <a:rPr lang="en-IN" sz="1800" i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07-05-2025</a:t>
            </a:fld>
            <a:endParaRPr lang="en-IN" sz="18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F7CE7FBF-6823-42D2-9A40-DD9F0D55FC28}"/>
              </a:ext>
            </a:extLst>
          </p:cNvPr>
          <p:cNvSpPr/>
          <p:nvPr/>
        </p:nvSpPr>
        <p:spPr>
          <a:xfrm>
            <a:off x="74815" y="83130"/>
            <a:ext cx="12045141" cy="365125"/>
          </a:xfrm>
          <a:prstGeom prst="round2DiagRect">
            <a:avLst>
              <a:gd name="adj1" fmla="val 50000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 Masters</a:t>
            </a:r>
            <a:endParaRPr lang="en-IN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A0FA90-12A0-4C70-BB2F-B636311181D0}"/>
              </a:ext>
            </a:extLst>
          </p:cNvPr>
          <p:cNvSpPr txBox="1"/>
          <p:nvPr/>
        </p:nvSpPr>
        <p:spPr>
          <a:xfrm>
            <a:off x="3805237" y="48145"/>
            <a:ext cx="4581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Self-balancing Electric Vehicle</a:t>
            </a:r>
            <a:endParaRPr lang="en-IN" sz="20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C2CB10D9-EE5B-405E-A62A-04067A9A3E09}"/>
              </a:ext>
            </a:extLst>
          </p:cNvPr>
          <p:cNvSpPr txBox="1">
            <a:spLocks/>
          </p:cNvSpPr>
          <p:nvPr/>
        </p:nvSpPr>
        <p:spPr>
          <a:xfrm>
            <a:off x="10746971" y="6356349"/>
            <a:ext cx="1372985" cy="365125"/>
          </a:xfrm>
          <a:prstGeom prst="round2DiagRect">
            <a:avLst>
              <a:gd name="adj1" fmla="val 50000"/>
              <a:gd name="adj2" fmla="val 0"/>
            </a:avLst>
          </a:prstGeom>
          <a:ln w="635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IN" sz="18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855EFD3-1141-4ED3-BB91-7993BD954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77742" y="6353463"/>
            <a:ext cx="4836514" cy="365124"/>
          </a:xfrm>
          <a:prstGeom prst="round2DiagRect">
            <a:avLst>
              <a:gd name="adj1" fmla="val 50000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IN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Electrical &amp; Electronics Engineering-PSNACET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E79DEBE3-8C88-4480-8EDF-4135D8EE8524}"/>
              </a:ext>
            </a:extLst>
          </p:cNvPr>
          <p:cNvSpPr txBox="1">
            <a:spLocks/>
          </p:cNvSpPr>
          <p:nvPr/>
        </p:nvSpPr>
        <p:spPr>
          <a:xfrm>
            <a:off x="666021" y="383171"/>
            <a:ext cx="10630629" cy="457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789527-57BE-4436-82DD-B4F55573BFA6}"/>
              </a:ext>
            </a:extLst>
          </p:cNvPr>
          <p:cNvSpPr/>
          <p:nvPr/>
        </p:nvSpPr>
        <p:spPr>
          <a:xfrm flipV="1">
            <a:off x="800100" y="874528"/>
            <a:ext cx="10591800" cy="6477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12F1566-DF4E-4BFE-BE59-3F5834CC3AED}"/>
              </a:ext>
            </a:extLst>
          </p:cNvPr>
          <p:cNvSpPr txBox="1">
            <a:spLocks/>
          </p:cNvSpPr>
          <p:nvPr/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Self-Balancing Vehicle</a:t>
            </a:r>
            <a:endParaRPr lang="en-IN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4DB09FC-06E3-4291-910A-F399AAA076FC}"/>
              </a:ext>
            </a:extLst>
          </p:cNvPr>
          <p:cNvSpPr txBox="1">
            <a:spLocks/>
          </p:cNvSpPr>
          <p:nvPr/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Innovated Self-Balancing Vehicle</a:t>
            </a:r>
            <a:endParaRPr lang="en-IN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076E3E-9A06-4F0F-B7EE-3C58A9A63F48}"/>
              </a:ext>
            </a:extLst>
          </p:cNvPr>
          <p:cNvSpPr/>
          <p:nvPr/>
        </p:nvSpPr>
        <p:spPr>
          <a:xfrm rot="5400000" flipV="1">
            <a:off x="4305034" y="3593570"/>
            <a:ext cx="3578756" cy="5029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IN">
              <a:solidFill>
                <a:schemeClr val="tx1"/>
              </a:solidFill>
            </a:endParaRP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868C1004-9831-45DF-9447-0561EBB507ED}"/>
              </a:ext>
            </a:extLst>
          </p:cNvPr>
          <p:cNvSpPr txBox="1">
            <a:spLocks/>
          </p:cNvSpPr>
          <p:nvPr/>
        </p:nvSpPr>
        <p:spPr>
          <a:xfrm>
            <a:off x="862014" y="2687955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q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Sensors - Accelerometer , IR , Ultrasonic.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Accuracy - Moderate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Speed of Response - Slower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Stability - Less Stable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Ideal - Basic Balance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Cost - Lower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DDF6AD9A-9C56-4E4C-90B1-EDD153D0FF80}"/>
              </a:ext>
            </a:extLst>
          </p:cNvPr>
          <p:cNvSpPr txBox="1">
            <a:spLocks/>
          </p:cNvSpPr>
          <p:nvPr/>
        </p:nvSpPr>
        <p:spPr>
          <a:xfrm>
            <a:off x="6172200" y="2687638"/>
            <a:ext cx="5183188" cy="36845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q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Sensors - Accelerometer and Gyroscope.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Accuracy - High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Speed of Response - Faster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Stability - Very Stable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Ideal - Dynamic Real-time Balance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Cost - Slightly Higher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897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31CF607-BF3D-4FEC-9D03-DAC7892FB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238" y="1104181"/>
            <a:ext cx="4740919" cy="537064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8195F91-E246-4FB4-B00F-3184078B0B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726" r="21088"/>
          <a:stretch/>
        </p:blipFill>
        <p:spPr>
          <a:xfrm flipH="1">
            <a:off x="-519755" y="1933663"/>
            <a:ext cx="2917898" cy="4924337"/>
          </a:xfrm>
          <a:prstGeom prst="rect">
            <a:avLst/>
          </a:prstGeom>
        </p:spPr>
      </p:pic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AE25A6A5-BD78-4054-8811-4D1340979AB7}"/>
              </a:ext>
            </a:extLst>
          </p:cNvPr>
          <p:cNvSpPr txBox="1">
            <a:spLocks/>
          </p:cNvSpPr>
          <p:nvPr/>
        </p:nvSpPr>
        <p:spPr>
          <a:xfrm>
            <a:off x="72044" y="6353462"/>
            <a:ext cx="1372985" cy="365125"/>
          </a:xfrm>
          <a:prstGeom prst="round2DiagRect">
            <a:avLst>
              <a:gd name="adj1" fmla="val 50000"/>
              <a:gd name="adj2" fmla="val 0"/>
            </a:avLst>
          </a:prstGeom>
          <a:ln w="635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D97CE8-073E-4F93-94E8-6B92F7E8CCB6}" type="datetime1">
              <a:rPr lang="en-IN" sz="1800" i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07-05-2025</a:t>
            </a:fld>
            <a:endParaRPr lang="en-IN" sz="18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F7CE7FBF-6823-42D2-9A40-DD9F0D55FC28}"/>
              </a:ext>
            </a:extLst>
          </p:cNvPr>
          <p:cNvSpPr/>
          <p:nvPr/>
        </p:nvSpPr>
        <p:spPr>
          <a:xfrm>
            <a:off x="74815" y="83130"/>
            <a:ext cx="12045141" cy="365125"/>
          </a:xfrm>
          <a:prstGeom prst="round2DiagRect">
            <a:avLst>
              <a:gd name="adj1" fmla="val 50000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 Masters</a:t>
            </a:r>
            <a:endParaRPr lang="en-IN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A0FA90-12A0-4C70-BB2F-B636311181D0}"/>
              </a:ext>
            </a:extLst>
          </p:cNvPr>
          <p:cNvSpPr txBox="1"/>
          <p:nvPr/>
        </p:nvSpPr>
        <p:spPr>
          <a:xfrm>
            <a:off x="3805237" y="48145"/>
            <a:ext cx="4581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Self-balancing Electric Vehicle</a:t>
            </a:r>
            <a:endParaRPr lang="en-IN" sz="20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C2CB10D9-EE5B-405E-A62A-04067A9A3E09}"/>
              </a:ext>
            </a:extLst>
          </p:cNvPr>
          <p:cNvSpPr txBox="1">
            <a:spLocks/>
          </p:cNvSpPr>
          <p:nvPr/>
        </p:nvSpPr>
        <p:spPr>
          <a:xfrm>
            <a:off x="10746971" y="6356349"/>
            <a:ext cx="1372985" cy="365125"/>
          </a:xfrm>
          <a:prstGeom prst="round2DiagRect">
            <a:avLst>
              <a:gd name="adj1" fmla="val 50000"/>
              <a:gd name="adj2" fmla="val 0"/>
            </a:avLst>
          </a:prstGeom>
          <a:ln w="635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IN" sz="18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855EFD3-1141-4ED3-BB91-7993BD954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77742" y="6353463"/>
            <a:ext cx="4836514" cy="365124"/>
          </a:xfrm>
          <a:prstGeom prst="round2DiagRect">
            <a:avLst>
              <a:gd name="adj1" fmla="val 50000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IN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Electrical &amp; Electronics Engineering-PSNACET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39BBB007-4C2B-4E14-B7FF-867A20307BBD}"/>
              </a:ext>
            </a:extLst>
          </p:cNvPr>
          <p:cNvSpPr txBox="1">
            <a:spLocks/>
          </p:cNvSpPr>
          <p:nvPr/>
        </p:nvSpPr>
        <p:spPr>
          <a:xfrm>
            <a:off x="666021" y="383171"/>
            <a:ext cx="10630629" cy="45706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OPPORTUNITIES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6BD642-5F44-4D88-BD3E-15B0FE54D3F6}"/>
              </a:ext>
            </a:extLst>
          </p:cNvPr>
          <p:cNvSpPr txBox="1"/>
          <p:nvPr/>
        </p:nvSpPr>
        <p:spPr>
          <a:xfrm>
            <a:off x="2080398" y="1356360"/>
            <a:ext cx="6468380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City Projects – Good for clean, modern transport.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 Deals – Partner with tech or fashion brands.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Eco-Friendly – No gas, no pollution.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Use – Fast and small for city deliveries.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Tourist Rentals – Fun to rent and ride in cities.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17B09A-4B0F-41C3-AFD1-B502A9B60BD0}"/>
              </a:ext>
            </a:extLst>
          </p:cNvPr>
          <p:cNvSpPr/>
          <p:nvPr/>
        </p:nvSpPr>
        <p:spPr>
          <a:xfrm flipV="1">
            <a:off x="800100" y="874528"/>
            <a:ext cx="10591800" cy="6477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9271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E972474-08CE-44A8-A015-D3E87CA35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ound2DiagRect">
            <a:avLst>
              <a:gd name="adj1" fmla="val 50000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IN" sz="18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Electrical &amp; Electronics Engineering</a:t>
            </a:r>
            <a:endParaRPr lang="en-IN" sz="18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26E0AA-916A-4EDE-AB09-0F033C6CA60E}"/>
              </a:ext>
            </a:extLst>
          </p:cNvPr>
          <p:cNvSpPr txBox="1"/>
          <p:nvPr/>
        </p:nvSpPr>
        <p:spPr>
          <a:xfrm>
            <a:off x="3805237" y="48145"/>
            <a:ext cx="4581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Oriented Programming Language</a:t>
            </a:r>
            <a:endParaRPr lang="en-IN" sz="20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229E58-57B4-4971-B7FA-69968DBDE053}"/>
              </a:ext>
            </a:extLst>
          </p:cNvPr>
          <p:cNvSpPr txBox="1"/>
          <p:nvPr/>
        </p:nvSpPr>
        <p:spPr>
          <a:xfrm>
            <a:off x="3178968" y="2828835"/>
            <a:ext cx="58340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THANKYOU</a:t>
            </a:r>
            <a:endParaRPr lang="en-IN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5BA29C-416A-4599-BCF4-DABB3D164E36}"/>
              </a:ext>
            </a:extLst>
          </p:cNvPr>
          <p:cNvSpPr txBox="1"/>
          <p:nvPr/>
        </p:nvSpPr>
        <p:spPr>
          <a:xfrm>
            <a:off x="781050" y="285750"/>
            <a:ext cx="10629900" cy="995422"/>
          </a:xfrm>
          <a:prstGeom prst="round2DiagRect">
            <a:avLst>
              <a:gd name="adj1" fmla="val 50000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Self-Balancing Electric Vehicle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916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456</Words>
  <Application>Microsoft Office PowerPoint</Application>
  <PresentationFormat>Widescreen</PresentationFormat>
  <Paragraphs>102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rohith keshavan</dc:creator>
  <cp:lastModifiedBy>rohith keshavan</cp:lastModifiedBy>
  <cp:revision>26</cp:revision>
  <dcterms:created xsi:type="dcterms:W3CDTF">2025-04-21T11:56:20Z</dcterms:created>
  <dcterms:modified xsi:type="dcterms:W3CDTF">2025-05-07T09:16:27Z</dcterms:modified>
</cp:coreProperties>
</file>